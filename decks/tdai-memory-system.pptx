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AGENT INFRASTRUCTURE · KUKLA + OLLIE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Agent Memory &amp;</a:t>
            </a:r>
          </a:p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Cross-Agent Stack</a:t>
            </a:r>
          </a:p>
          <a:p>
            <a:pPr algn="l"/>
            <a:r>
              <a:rPr sz="2300" b="0" i="0">
                <a:solidFill>
                  <a:srgbClr val="D7E1EE"/>
                </a:solidFill>
                <a:latin typeface="Calibri"/>
              </a:rPr>
              <a:t>How the two-agent family is actually wired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206240"/>
            <a:ext cx="2743200" cy="381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5BC88A"/>
                </a:solidFill>
                <a:latin typeface="Calibri"/>
              </a:rPr>
              <a:t>Memory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(TDAI · STRATUS · UMP)   </a:t>
            </a:r>
            <a:r>
              <a:rPr sz="1700" b="1" i="0">
                <a:solidFill>
                  <a:srgbClr val="2E9EC9"/>
                </a:solidFill>
                <a:latin typeface="Calibri"/>
              </a:rPr>
              <a:t>Bus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(Sibline)   </a:t>
            </a:r>
            <a:r>
              <a:rPr sz="1700" b="1" i="0">
                <a:solidFill>
                  <a:srgbClr val="E08A3C"/>
                </a:solidFill>
                <a:latin typeface="Calibri"/>
              </a:rPr>
              <a:t>Integration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(harness)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8A97A8"/>
                </a:solidFill>
                <a:latin typeface="Consolas"/>
              </a:rPr>
              <a:t>Prepared for Rick Stevens · Argonne · 2026-06-23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5BC88A"/>
                </a:solidFill>
                <a:latin typeface="Consolas"/>
              </a:rPr>
              <a:t>IN ONE LOOK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The whole stack, in three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520440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352044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01368"/>
            <a:ext cx="31181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3118104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Layered per-agent memory (L0→L3). TDAI is live &amp; authoritative; STRATUS is the clean US rebuild running shadow. UMP + vault hold shared facts.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600200"/>
            <a:ext cx="3520440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600200"/>
            <a:ext cx="3520440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01368"/>
            <a:ext cx="31181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468880"/>
            <a:ext cx="3118104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Sibline — a NATS/JetStream broker — carries realtime agent↔agent messages. One stable v1 subject contract, both directions symmetric.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00200"/>
            <a:ext cx="3520440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00200"/>
            <a:ext cx="3520440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01368"/>
            <a:ext cx="31181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468880"/>
            <a:ext cx="3118104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A documented, replication-grade recipe plugs either harness (Hermes / OpenClaw) into STRATUS — stand it up + verify from scratch.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5BC88A"/>
                </a:solidFill>
                <a:latin typeface="Calibri"/>
              </a:rPr>
              <a:t>Bottom line:  </a:t>
            </a:r>
            <a:r>
              <a:rPr sz="1700" b="0" i="0">
                <a:solidFill>
                  <a:srgbClr val="D7E1EE"/>
                </a:solidFill>
                <a:latin typeface="Calibri"/>
              </a:rPr>
              <a:t>two agents, one human, separate identities — sharing memory and a realtime bus, with the whole thing reproducible from documented templates.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9B8CE0"/>
                </a:solidFill>
                <a:latin typeface="Consolas"/>
              </a:rPr>
              <a:t>CROSS-AGENT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Two agents, one family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074920" cy="329184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074920" cy="635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67258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KUKLA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14600"/>
            <a:ext cx="4672584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D7E1EE"/>
                </a:solidFill>
                <a:latin typeface="Calibri"/>
              </a:rPr>
              <a:t>Harness: Hermes (Python)
Host: m1-mac-mini
Runs the Sibline broker
@Rick_KuklaBot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1645920"/>
            <a:ext cx="5074920" cy="329184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3952" y="1645920"/>
            <a:ext cx="507492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47088"/>
            <a:ext cx="467258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OLLIE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672584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D7E1EE"/>
                </a:solidFill>
                <a:latin typeface="Calibri"/>
              </a:rPr>
              <a:t>Harness: OpenClaw (Node/TS)
Host: CherryRd
Runs STRATUS gateway + tap
@RickOllie_bot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063240"/>
            <a:ext cx="2011680" cy="50292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3063240"/>
            <a:ext cx="20116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ONE HUMAN: RICK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2E9EC9"/>
                </a:solidFill>
                <a:latin typeface="Calibri"/>
              </a:rPr>
              <a:t>Shared substrate: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same model backend (Argo → Claude). Separate identities — never impersonate, never speak as a merged agent.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5BC88A"/>
                </a:solidFill>
                <a:latin typeface="Consolas"/>
              </a:rPr>
              <a:t>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Five memory systems, five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10972800" cy="7863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63500" cy="786384"/>
          </a:xfrm>
          <a:prstGeom prst="rect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64792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Native (Hermes / OpenClaw)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92224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per-agent working memory, injected every 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810512"/>
            <a:ext cx="1828800" cy="502920"/>
          </a:xfrm>
          <a:prstGeom prst="rect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0" y="1810512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PRIVATE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10972800" cy="7863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60320"/>
            <a:ext cx="63500" cy="786384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2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Memory vault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706624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shared cold tier — markdown cards, read on demand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2724912"/>
            <a:ext cx="1828800" cy="50292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2724912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SHARED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10972800" cy="7863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74720"/>
            <a:ext cx="63500" cy="786384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621024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shared structured store — 36k MCP-exposed cards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3639312"/>
            <a:ext cx="1828800" cy="50292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3639312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SHARED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89120"/>
            <a:ext cx="10972800" cy="7863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89120"/>
            <a:ext cx="63500" cy="786384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07992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TDAI  (L0→L3)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535424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the live system — injects context every turn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4553712"/>
            <a:ext cx="1828800" cy="50292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4553712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AUTHORITATIVE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03520"/>
            <a:ext cx="10972800" cy="7863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303520"/>
            <a:ext cx="63500" cy="786384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22392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STRATUS  (T0→T3)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449824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born-clean US rebuild of TDAI — captures 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5468112"/>
            <a:ext cx="1828800" cy="50292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0" y="5468112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21B2E"/>
                </a:solidFill>
                <a:latin typeface="Calibri"/>
              </a:rPr>
              <a:t>SHADOW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5BC88A"/>
                </a:solidFill>
                <a:latin typeface="Consolas"/>
              </a:rPr>
              <a:t>MEMORY · TDAI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TDAI: the four-layer pipeline (live)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514600" cy="24688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63500"/>
          </a:xfrm>
          <a:prstGeom prst="rect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29968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8A97A8"/>
                </a:solidFill>
                <a:latin typeface="Consolas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21488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every turn
captured 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1256" y="283464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828800"/>
            <a:ext cx="2514600" cy="24688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828800"/>
            <a:ext cx="251460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029968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2E9EC9"/>
                </a:solidFill>
                <a:latin typeface="Consolas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37744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Atoms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71800"/>
            <a:ext cx="21488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LLM-extracted
facts / prefs /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283464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828800"/>
            <a:ext cx="2514600" cy="24688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828800"/>
            <a:ext cx="2514600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029968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5BC88A"/>
                </a:solidFill>
                <a:latin typeface="Consolas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37744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Scenes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971800"/>
            <a:ext cx="21488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synthesized
topic summaries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83464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828800"/>
            <a:ext cx="2514600" cy="24688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828800"/>
            <a:ext cx="2514600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029968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E08A3C"/>
                </a:solidFill>
                <a:latin typeface="Consolas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7744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971800"/>
            <a:ext cx="21488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persona
rollup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00600"/>
            <a:ext cx="109728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5BC88A"/>
                </a:solidFill>
                <a:latin typeface="Calibri"/>
              </a:rPr>
              <a:t>Distiller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 walks L0→L3 on free Argo LLMs. Storage = SQLite + FTS5 + sqlite-vec. </a:t>
            </a:r>
            <a:r>
              <a:rPr sz="1600" b="1" i="0">
                <a:solidFill>
                  <a:srgbClr val="5BC88A"/>
                </a:solidFill>
                <a:latin typeface="Calibri"/>
              </a:rPr>
              <a:t>Authoritative today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 — it injects the right memory into every turn.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E08A3C"/>
                </a:solidFill>
                <a:latin typeface="Consolas"/>
              </a:rPr>
              <a:t>MEMORY · STRATUS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STRATUS: the born-clean US rebuild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349240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9469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14600"/>
            <a:ext cx="4946904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Apache-2.0 rewrite of TDAI (T0→T3 = L0→L3).
better-sqlite3 + sqlite-vec + FTS5.
HTTP gateway on :8077.
Ollie maintains the repo.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85232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285232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847088"/>
            <a:ext cx="48828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Why shadow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514600"/>
            <a:ext cx="4882896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Runs capture-only — does NOT inject.
A STRATUS bug can't degrade the agents.
TDAI stays authoritative during the dual-run.
Tap tails TDAI L0 → STRATUS /stream/add.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E08A3C"/>
                </a:solidFill>
                <a:latin typeface="Calibri"/>
              </a:rPr>
              <a:t>Safe by design: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shadow now, promote to live later by flipping the memory provider — no risky big-bang cutover.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9B8CE0"/>
                </a:solidFill>
                <a:latin typeface="Consolas"/>
              </a:rPr>
              <a:t>MEMORY · UMP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UMP: the shared structured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349240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635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9469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14600"/>
            <a:ext cx="4946904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36k+ markdown cards, Dropbox-synced.
Shared across both agents.
MCP-exposed for structured recall.
Operator-keyed DID (shared, not per-agent).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85232" cy="32004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285232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847088"/>
            <a:ext cx="48828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one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514600"/>
            <a:ext cx="4882896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Cards are PRIVATE — recall MUST pass scope.owner.
Forgetting it = empty results (the dominant failure).
Always scope the query to the operator.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9B8CE0"/>
                </a:solidFill>
                <a:latin typeface="Calibri"/>
              </a:rPr>
              <a:t>Role: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shared, durable, structured facts both agents contribute to and read on demand — the cross-agent knowledge base.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Authoritative vs. shared vs. shadow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520440" cy="33832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520440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311810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5BC88A"/>
                </a:solidFill>
                <a:latin typeface="Calibri"/>
              </a:rPr>
              <a:t>AUTHORITATIVE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118104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8A97A8"/>
                </a:solidFill>
                <a:latin typeface="Calibri"/>
              </a:rPr>
              <a:t>injects into every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34640"/>
            <a:ext cx="3118104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Native per-agent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TDAI (L0→L3)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645920"/>
            <a:ext cx="3520440" cy="33832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645920"/>
            <a:ext cx="3520440" cy="635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47088"/>
            <a:ext cx="311810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9B8CE0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04288"/>
            <a:ext cx="3118104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8A97A8"/>
                </a:solidFill>
                <a:latin typeface="Calibri"/>
              </a:rPr>
              <a:t>read on demand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834640"/>
            <a:ext cx="3118104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Memory vault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UMP (36k cards)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1645920"/>
            <a:ext cx="3520440" cy="33832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645920"/>
            <a:ext cx="3520440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847088"/>
            <a:ext cx="311810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E08A3C"/>
                </a:solidFill>
                <a:latin typeface="Calibri"/>
              </a:rPr>
              <a:t>SHADOW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304288"/>
            <a:ext cx="3118104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8A97A8"/>
                </a:solidFill>
                <a:latin typeface="Calibri"/>
              </a:rPr>
              <a:t>captures, never injects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834640"/>
            <a:ext cx="3118104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STRATUS (T0→T3)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2E9EC9"/>
                </a:solidFill>
                <a:latin typeface="Calibri"/>
              </a:rPr>
              <a:t>The invariant:  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only authoritative systems touch the live recall path; shadow + shared are isolated from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BUS · SIBLINE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Sibline: the realtime cross-agent bus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274320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74320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92808"/>
            <a:ext cx="234086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OLLIE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60320"/>
            <a:ext cx="2340864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CherryRd</a:t>
            </a:r>
          </a:p>
        </p:txBody>
      </p:sp>
      <p:sp>
        <p:nvSpPr>
          <p:cNvPr id="9" name="Rectangle 8"/>
          <p:cNvSpPr/>
          <p:nvPr/>
        </p:nvSpPr>
        <p:spPr>
          <a:xfrm>
            <a:off x="8805672" y="1691640"/>
            <a:ext cx="274320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05672" y="1691640"/>
            <a:ext cx="2743200" cy="6350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92808"/>
            <a:ext cx="234086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KUKLA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2560320"/>
            <a:ext cx="2340864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m1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554480"/>
            <a:ext cx="3840480" cy="146304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554480"/>
            <a:ext cx="3840480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1783080"/>
            <a:ext cx="384048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NATS / JetStream broker</a:t>
            </a:r>
          </a:p>
          <a:p>
            <a:pPr algn="ctr"/>
            <a:r>
              <a:rPr sz="1600" b="0" i="0">
                <a:solidFill>
                  <a:srgbClr val="D7E1EE"/>
                </a:solidFill>
                <a:latin typeface="Calibri"/>
              </a:rPr>
              <a:t>durable, ack-after-process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92024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5BC88A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92024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5BC88A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1097280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5BC88A"/>
                </a:solidFill>
                <a:latin typeface="Consolas"/>
              </a:rPr>
              <a:t>Envelope v1:  {id, from, to, ts, kind, body}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sibline.&lt;target&gt;.inbox  —  direct, durable, reliable path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sibline.broadcast  —  room chatter, durable consumer per agent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D7E1EE"/>
                </a:solidFill>
                <a:latin typeface="Calibri"/>
              </a:rPr>
              <a:t>•  sibline.&lt;self&gt;.outbox  —  audit feed (observable, not load-bearing)</a:t>
            </a:r>
          </a:p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•  sibline.presence.&lt;agent&gt;  —  ephemeral, latest-only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09/16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BUS · SIBLINE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The v1 subject contract (stable)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972800" cy="8686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63500" cy="86868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114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onsolas"/>
              </a:rPr>
              <a:t>sibline-ollie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956816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2E9EC9"/>
                </a:solidFill>
                <a:latin typeface="Consolas"/>
              </a:rPr>
              <a:t>sibline.ollie.&gt;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8686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63500" cy="868680"/>
          </a:xfrm>
          <a:prstGeom prst="rect">
            <a:avLst/>
          </a:prstGeom>
          <a:solidFill>
            <a:srgbClr val="9B8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4114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onsolas"/>
              </a:rPr>
              <a:t>sibline-kukla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962656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9B8CE0"/>
                </a:solidFill>
                <a:latin typeface="Consolas"/>
              </a:rPr>
              <a:t>sibline.kukla.&gt;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10972800" cy="8686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63500" cy="86868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4114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onsolas"/>
              </a:rPr>
              <a:t>sibline-broadcast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968496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5BC88A"/>
                </a:solidFill>
                <a:latin typeface="Consolas"/>
              </a:rPr>
              <a:t>sibline.broadcast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109728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File storage, 7-day retention, 10k msgs. </a:t>
            </a:r>
            <a:r>
              <a:rPr sz="1600" b="1" i="0">
                <a:solidFill>
                  <a:srgbClr val="E08A3C"/>
                </a:solidFill>
                <a:latin typeface="Consolas"/>
              </a:rPr>
              <a:t>Per-user grant must include publish: $JS.&gt;</a:t>
            </a:r>
            <a:r>
              <a:rPr sz="1600" b="0" i="0">
                <a:solidFill>
                  <a:srgbClr val="D7E1EE"/>
                </a:solidFill>
                <a:latin typeface="Calibri"/>
              </a:rPr>
              <a:t> — the load-bearing JetStream gotcha (without it, consumer/ack ops fail).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BUS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Six channels, ranked by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63500" cy="118872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Sibline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realtime broker — PRIMARY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6916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691640"/>
            <a:ext cx="63500" cy="118872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562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kukla-mail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file mailbox — durable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63500" cy="118872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278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Telegram bridge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3-way, Rick-visible ops chatter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0632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3063240"/>
            <a:ext cx="63500" cy="1188720"/>
          </a:xfrm>
          <a:prstGeom prst="rect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2278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Slack mpim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3-way shared room (no bot↔bot DM)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348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434840"/>
            <a:ext cx="63500" cy="118872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994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Webhooks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74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HMAC-signed, ~50s (LLM in path)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434840"/>
            <a:ext cx="5532120" cy="11887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434840"/>
            <a:ext cx="63500" cy="1188720"/>
          </a:xfrm>
          <a:prstGeom prst="rect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599432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Transcript 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074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read-only shared situational awareness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E9EC9"/>
                </a:solidFill>
                <a:latin typeface="Consolas"/>
              </a:rPr>
              <a:t>BUS · INVARIANT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The symmetry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349240" cy="219456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9469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BEFORE — asymmetric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14600"/>
            <a:ext cx="4946904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Ollie→Kukla: broker (realtime)
Kukla→Ollie: file only (lagged)
= looks like a bug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85232" cy="219456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285232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847088"/>
            <a:ext cx="48828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AFTER — symmetric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514600"/>
            <a:ext cx="4882896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D7E1EE"/>
                </a:solidFill>
                <a:latin typeface="Calibri"/>
              </a:rPr>
              <a:t>Every send does BOTH legs:
durable file + broker publish
= same latency both ways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0520"/>
            <a:ext cx="10908792" cy="13716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10908792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5BC88A"/>
                </a:solidFill>
                <a:latin typeface="Calibri"/>
              </a:rPr>
              <a:t>VALIDATED:  </a:t>
            </a:r>
            <a:r>
              <a:rPr sz="1700" b="0" i="0">
                <a:solidFill>
                  <a:srgbClr val="D7E1EE"/>
                </a:solidFill>
                <a:latin typeface="Calibri"/>
              </a:rPr>
              <a:t>live ping→pong round-trip closed both directions · dual-witness (CherryRd + m1) · 3 streams with correct durable-consumer filters.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E08A3C"/>
                </a:solidFill>
                <a:latin typeface="Consolas"/>
              </a:rPr>
              <a:t>INTEGRATION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Plugging a harness into STRATUS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2514600" cy="15544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51460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Harness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148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onsolas"/>
              </a:rPr>
              <a:t>Hermes / OpenClaw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233172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783080"/>
            <a:ext cx="2514600" cy="15544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6160" y="1783080"/>
            <a:ext cx="251460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560320"/>
            <a:ext cx="2148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onsolas"/>
              </a:rPr>
              <a:t>L0 → /stream/add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33172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783080"/>
            <a:ext cx="2514600" cy="15544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2514600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60320"/>
            <a:ext cx="2148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onsolas"/>
              </a:rPr>
              <a:t>STRATUS :8077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331720"/>
            <a:ext cx="411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8A97A8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783080"/>
            <a:ext cx="2514600" cy="155448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514600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011680"/>
            <a:ext cx="2148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560320"/>
            <a:ext cx="2148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onsolas"/>
              </a:rPr>
              <a:t>SQLite + vec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657600"/>
            <a:ext cx="5349240" cy="18288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57600"/>
            <a:ext cx="5349240" cy="635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858768"/>
            <a:ext cx="4946904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Two modes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26280"/>
            <a:ext cx="4946904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SHADOW — tap captures + validates, NOT in recall path (safe dual-run)
LIVE — STRATUS becomes the memory provider (one config flip)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657600"/>
            <a:ext cx="5285232" cy="18288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657600"/>
            <a:ext cx="5285232" cy="635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3858768"/>
            <a:ext cx="48828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Replication-grade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4526280"/>
            <a:ext cx="488289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deploy/launchd/*.template (REPLACE_ME tokens) + deploy/nats/
Numbered INSTALL order ends in a ping→pong verify step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E08A3C"/>
                </a:solidFill>
                <a:latin typeface="Consolas"/>
              </a:rPr>
              <a:t>INTEGRATION · DEPLOY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E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The deploy kit — stand it up from scratch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6766560" cy="39319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63500" cy="393192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6400800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stratus/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C88A"/>
                </a:solidFill>
                <a:latin typeface="Consolas"/>
              </a:rPr>
              <a:t>  docs/HARNESS_INTEGRATION.md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D7E1EE"/>
                </a:solidFill>
                <a:latin typeface="Consolas"/>
              </a:rPr>
              <a:t>  KUKLA_DELTA.md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  deploy/nats/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D7E1EE"/>
                </a:solidFill>
                <a:latin typeface="Consolas"/>
              </a:rPr>
              <a:t>    nats-server.conf.template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D7E1EE"/>
                </a:solidFill>
                <a:latin typeface="Consolas"/>
              </a:rPr>
              <a:t>    create-streams.sh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  deploy/launchd/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D7E1EE"/>
                </a:solidFill>
                <a:latin typeface="Consolas"/>
              </a:rPr>
              <a:t>    com.example.stratus-gateway.template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D7E1EE"/>
                </a:solidFill>
                <a:latin typeface="Consolas"/>
              </a:rPr>
              <a:t>    com.example.stratus-tap-openclaw.template</a:t>
            </a:r>
          </a:p>
          <a:p>
            <a:pPr algn="l"/>
            <a:r>
              <a:rPr sz="1600" b="0" i="0">
                <a:solidFill>
                  <a:srgbClr val="D7E1EE"/>
                </a:solidFill>
                <a:latin typeface="Consolas"/>
              </a:rPr>
              <a:t>    com.example.nats-subscriber.template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691640"/>
            <a:ext cx="3913632" cy="393192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691640"/>
            <a:ext cx="3913632" cy="635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892808"/>
            <a:ext cx="35112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All tokenized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560320"/>
            <a:ext cx="3511296" cy="2926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Every secret / path is a REPLACE_ME_* token.
No operator-specific values.
A stranger replaces the tokens, runs the INSTALL order, and verifies with ping→pong.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5BC88A"/>
                </a:solidFill>
                <a:latin typeface="Consolas"/>
              </a:rPr>
              <a:t>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What's green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64792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STRATUS gateway /healthz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01368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ok — tiers: stream / atoms / scenes / core / pools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95728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95728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1460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32888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Origin-clean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551176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0 breaches repo-wide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45536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145536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82696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Sibline ping→pong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00984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PASS both directions, dual-witness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95344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895344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14216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032504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Broker streams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050792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3 present, correct durable-consumer filters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45152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645152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64024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82312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Deploy templates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80060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tokenized, no secret leaks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94960"/>
            <a:ext cx="10972800" cy="65836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394960"/>
            <a:ext cx="63500" cy="658368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513832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BC88A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53212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Harness doc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5550408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D7E1EE"/>
                </a:solidFill>
                <a:latin typeface="Calibri"/>
              </a:rPr>
              <a:t>replication-grade, on origin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C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2E9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5BC88A"/>
                </a:solidFill>
                <a:latin typeface="Consolas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69848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D7E1EE"/>
                </a:solidFill>
                <a:latin typeface="Calibri"/>
              </a:rPr>
              <a:t>•  TDAI — live four-layer (L0→L3) memory with auto-recall; authoritative today.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D7E1EE"/>
                </a:solidFill>
                <a:latin typeface="Calibri"/>
              </a:rPr>
              <a:t>•  STRATUS — born-clean US rebuild (T0→T3), runs shadow, Ollie-maintained.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D7E1EE"/>
                </a:solidFill>
                <a:latin typeface="Calibri"/>
              </a:rPr>
              <a:t>•  Two agents (Kukla/Hermes + Ollie/OpenClaw), one human, separate identities.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D7E1EE"/>
                </a:solidFill>
                <a:latin typeface="Calibri"/>
              </a:rPr>
              <a:t>•  Sibline — NATS/JetStream realtime bus; symmetric, dual-witness validated.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D7E1EE"/>
                </a:solidFill>
                <a:latin typeface="Calibri"/>
              </a:rPr>
              <a:t>•  UMP + vault — shared structured / cold memory, read on demand.</a:t>
            </a:r>
          </a:p>
          <a:p>
            <a:pPr algn="l"/>
            <a:r>
              <a:rPr sz="2000" b="0" i="0">
                <a:solidFill>
                  <a:srgbClr val="D7E1EE"/>
                </a:solidFill>
                <a:latin typeface="Calibri"/>
              </a:rPr>
              <a:t>•  Harness integration is replication-grade — stand up + verify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  <a:latin typeface="Consolas"/>
              </a:rPr>
              <a:t>Agent memory + cross-agent stack · TDAI / STRATUS · Sibline · 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7395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Consolas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