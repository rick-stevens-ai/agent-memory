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AGENT INFRASTRUCTURE · KUKLA + OLLIE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Agent Memory &amp;</a:t>
            </a:r>
          </a:p>
          <a:p>
            <a:pPr algn="l"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Cross-Agent Stack</a:t>
            </a:r>
          </a:p>
          <a:p>
            <a:pPr algn="l"/>
            <a:r>
              <a:rPr sz="2300" b="0" i="0">
                <a:solidFill>
                  <a:srgbClr val="D7E1EE"/>
                </a:solidFill>
                <a:latin typeface="Calibri"/>
              </a:rPr>
              <a:t>How the two-agent family is actually wired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206240"/>
            <a:ext cx="274320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5BC88A"/>
                </a:solidFill>
                <a:latin typeface="Calibri"/>
              </a:rPr>
              <a:t>Memory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(TDAI → Falda · UMP)   </a:t>
            </a:r>
            <a:r>
              <a:rPr sz="1700" b="1" i="0">
                <a:solidFill>
                  <a:srgbClr val="2E9EC9"/>
                </a:solidFill>
                <a:latin typeface="Calibri"/>
              </a:rPr>
              <a:t>Bus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(Sibline)   </a:t>
            </a:r>
            <a:r>
              <a:rPr sz="1700" b="1" i="0">
                <a:solidFill>
                  <a:srgbClr val="E08A3C"/>
                </a:solidFill>
                <a:latin typeface="Calibri"/>
              </a:rPr>
              <a:t>Integration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(harness)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8A97A8"/>
                </a:solidFill>
                <a:latin typeface="Consolas"/>
              </a:rPr>
              <a:t>Prepared for Rick Stevens · Argonne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5BC88A"/>
                </a:solidFill>
                <a:latin typeface="Consolas"/>
              </a:rPr>
              <a:t>IN ONE 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The whole stack, in three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20440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52044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01368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311810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Layered per-agent memory (T0→T3). Falda is the born-clean US-origin four-tier engine becoming the primary, migrated from the older TDAI runtime. UMP + vault hold shared 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600200"/>
            <a:ext cx="3520440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600200"/>
            <a:ext cx="3520440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01368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11810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Sibline — a NATS/JetStream broker — carries realtime agent↔agent messages. One stable v1 subject contract, both directions symmetric.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00200"/>
            <a:ext cx="3520440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00200"/>
            <a:ext cx="3520440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01368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468880"/>
            <a:ext cx="311810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A documented, replication-grade recipe plugs either harness (Hermes / OpenClaw) into Falda — stand it up + verify from scratch.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5BC88A"/>
                </a:solidFill>
                <a:latin typeface="Calibri"/>
              </a:rPr>
              <a:t>Bottom line:  </a:t>
            </a:r>
            <a:r>
              <a:rPr sz="1700" b="0" i="0">
                <a:solidFill>
                  <a:srgbClr val="D7E1EE"/>
                </a:solidFill>
                <a:latin typeface="Calibri"/>
              </a:rPr>
              <a:t>two agents, one human, separate identities — sharing memory and a realtime bus, with the whole thing reproducible from documented templates.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9B8CE0"/>
                </a:solidFill>
                <a:latin typeface="Consolas"/>
              </a:rPr>
              <a:t>CROSS-AGENT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Two agents, one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074920" cy="329184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074920" cy="635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46725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KUKLA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672584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D7E1EE"/>
                </a:solidFill>
                <a:latin typeface="Calibri"/>
              </a:rPr>
              <a:t>Harness: Hermes (Python)
Host: m1-mac-mini
Runs the Sibline broker
@Rick_KuklaBot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3952" y="1645920"/>
            <a:ext cx="5074920" cy="329184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645920"/>
            <a:ext cx="507492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47088"/>
            <a:ext cx="46725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OLLIE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4672584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D7E1EE"/>
                </a:solidFill>
                <a:latin typeface="Calibri"/>
              </a:rPr>
              <a:t>Harness: OpenClaw (Node/TS)
Host: CherryRd
Runs Falda gateway + tap
@RickOllie_bot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063240"/>
            <a:ext cx="2011680" cy="50292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3063240"/>
            <a:ext cx="2011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ONE HUMAN: 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E9EC9"/>
                </a:solidFill>
                <a:latin typeface="Calibri"/>
              </a:rPr>
              <a:t>Shared substrate: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same model backend (Argo → Claude). Separate identities — never impersonate, never speak as a merged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5BC88A"/>
                </a:solidFill>
                <a:latin typeface="Consolas"/>
              </a:rPr>
              <a:t>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Five memory systems, five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7863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3500" cy="786384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Native (Hermes / OpenClaw)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92224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per-agent working memory, injected every 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810512"/>
            <a:ext cx="1828800" cy="502920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1810512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72800" cy="7863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63500" cy="786384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Memory 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06624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shared cold tier — markdown cards, read on demand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2724912"/>
            <a:ext cx="1828800" cy="50292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724912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SHARED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10972800" cy="7863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63500" cy="786384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621024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shared structured store — 36k MCP-exposed cards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639312"/>
            <a:ext cx="1828800" cy="50292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3639312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SHARED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10972800" cy="7863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63500" cy="786384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Falda  (T0→T3)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535424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born-clean US four-tier engine — becoming primary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4553712"/>
            <a:ext cx="1828800" cy="50292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4553712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PRIMARY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10972800" cy="786384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303520"/>
            <a:ext cx="63500" cy="78638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22392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TDAI  (L0→L3)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449824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legacy live runtime — migrating from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468112"/>
            <a:ext cx="1828800" cy="5029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5468112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21B2E"/>
                </a:solidFill>
                <a:latin typeface="Calibri"/>
              </a:rPr>
              <a:t>RETIRING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5BC88A"/>
                </a:solidFill>
                <a:latin typeface="Consolas"/>
              </a:rPr>
              <a:t>MEMORY · TDAI (LEGACY)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TDAI: the four-layer pipeline (migrating from)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14600" cy="24688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63500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8A97A8"/>
                </a:solidFill>
                <a:latin typeface="Consolas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1488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every turn
captured 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1256" y="283464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14600" cy="24688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1460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02996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E9EC9"/>
                </a:solidFill>
                <a:latin typeface="Consolas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37744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Atoms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971800"/>
            <a:ext cx="21488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LLM-extracted
facts / prefs /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83464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828800"/>
            <a:ext cx="2514600" cy="24688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828800"/>
            <a:ext cx="2514600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2996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5BC88A"/>
                </a:solidFill>
                <a:latin typeface="Consolas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7744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Scenes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71800"/>
            <a:ext cx="21488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synthesized
topic summaries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83464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828800"/>
            <a:ext cx="2514600" cy="24688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1828800"/>
            <a:ext cx="2514600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02996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E08A3C"/>
                </a:solidFill>
                <a:latin typeface="Consolas"/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7744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971800"/>
            <a:ext cx="21488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persona
rollup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5BC88A"/>
                </a:solidFill>
                <a:latin typeface="Calibri"/>
              </a:rPr>
              <a:t>Distiller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 walks L0→L3 on free Argo LLMs. Storage = SQLite + FTS5 + sqlite-vec. </a:t>
            </a:r>
            <a:r>
              <a:rPr sz="1600" b="1" i="0">
                <a:solidFill>
                  <a:srgbClr val="5BC88A"/>
                </a:solidFill>
                <a:latin typeface="Calibri"/>
              </a:rPr>
              <a:t>The reference design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 — the Falda engine inherits its tier model and ships the go-forward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5BC88A"/>
                </a:solidFill>
                <a:latin typeface="Consolas"/>
              </a:rPr>
              <a:t>MEMORY · FALDA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Falda: the born-clean US-origin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49469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94690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Apache-2.0, US-origin reimplementation of the four-tier model (T0→T3 = Stream / Atoms / Scenes / Core).
better-sqlite3 + sqlite-vec + FTS5.
HTTP gateway on :8077.
Public repo: github.com/rick-stevens-ai/falda.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285232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285232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47088"/>
            <a:ext cx="48828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Why it's the go-forward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514600"/>
            <a:ext cx="4882896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Clean-room provenance (no carried-over code).
Same tier semantics as TDAI — drop-in upgrade path.
Becoming the primary memory provider; TDAI is the predecessor being migrated from.
Dual-run during cutover keeps risk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5BC88A"/>
                </a:solidFill>
                <a:latin typeface="Calibri"/>
              </a:rPr>
              <a:t>Cutover model: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run both engines side-by-side, then flip the memory provider to Falda — no risky big-bang switch.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9B8CE0"/>
                </a:solidFill>
                <a:latin typeface="Consolas"/>
              </a:rPr>
              <a:t>MEMORY · UMP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UMP: the shared structured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635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49469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it 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94690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36k+ markdown cards, Dropbox-synced.
Shared across both agents.
MCP-exposed for structured recall.
Operator-keyed DID (shared, not per-agent).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285232" cy="32004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285232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47088"/>
            <a:ext cx="48828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one gotcha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514600"/>
            <a:ext cx="4882896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Cards are PRIVATE — recall MUST pass scope.owner.
Forgetting it = empty results (the dominant failure).
Always scope the query to the operator.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9B8CE0"/>
                </a:solidFill>
                <a:latin typeface="Calibri"/>
              </a:rPr>
              <a:t>Role: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shared, durable, structured facts both agents contribute to and read on demand — the cross-agent knowledge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Primary vs. shared vs. legacy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520440" cy="33832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20440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5BC88A"/>
                </a:solidFill>
                <a:latin typeface="Calibri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4288"/>
            <a:ext cx="31181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8A97A8"/>
                </a:solidFill>
                <a:latin typeface="Calibri"/>
              </a:rPr>
              <a:t>go-forward recall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3118104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Native per-agent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Falda (T0→T3)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45920"/>
            <a:ext cx="3520440" cy="33832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645920"/>
            <a:ext cx="3520440" cy="635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47088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9B8CE0"/>
                </a:solidFill>
                <a:latin typeface="Calibri"/>
              </a:rPr>
              <a:t>SHARED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04288"/>
            <a:ext cx="31181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8A97A8"/>
                </a:solidFill>
                <a:latin typeface="Calibri"/>
              </a:rPr>
              <a:t>read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40"/>
            <a:ext cx="3118104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Memory vault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UMP (36k cards)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645920"/>
            <a:ext cx="3520440" cy="33832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645920"/>
            <a:ext cx="3520440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47088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E08A3C"/>
                </a:solidFill>
                <a:latin typeface="Calibri"/>
              </a:rPr>
              <a:t>LEGACY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304288"/>
            <a:ext cx="31181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8A97A8"/>
                </a:solidFill>
                <a:latin typeface="Calibri"/>
              </a:rPr>
              <a:t>migrating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834640"/>
            <a:ext cx="3118104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TDAI (L0→L3)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E9EC9"/>
                </a:solidFill>
                <a:latin typeface="Calibri"/>
              </a:rPr>
              <a:t>The invariant:  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only the primary path touches live recall; shared tiers are read on demand and the legacy engine is being phased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BUS · SIBLINE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Sibline: the realtime cross-agent 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74320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74320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92808"/>
            <a:ext cx="23408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OLLIE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2340864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CherryRd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805672" y="1691640"/>
            <a:ext cx="274320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5672" y="1691640"/>
            <a:ext cx="2743200" cy="6350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92808"/>
            <a:ext cx="23408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KUKLA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560320"/>
            <a:ext cx="2340864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m1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554480"/>
            <a:ext cx="3840480" cy="146304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554480"/>
            <a:ext cx="3840480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NATS / JetStream broker</a:t>
            </a:r>
          </a:p>
          <a:p>
            <a:pPr algn="ctr"/>
            <a:r>
              <a:rPr sz="1600" b="0" i="0">
                <a:solidFill>
                  <a:srgbClr val="D7E1EE"/>
                </a:solidFill>
                <a:latin typeface="Calibri"/>
              </a:rPr>
              <a:t>durable, ack-after-process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2024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5BC88A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2024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5BC88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09728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5BC88A"/>
                </a:solidFill>
                <a:latin typeface="Consolas"/>
              </a:rPr>
              <a:t>Envelope v1:  {id, from, to, ts, kind, body}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sibline.&lt;target&gt;.inbox  —  direct, durable, reliable path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sibline.broadcast  —  room chatter, durable consumer per agent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D7E1EE"/>
                </a:solidFill>
                <a:latin typeface="Calibri"/>
              </a:rPr>
              <a:t>•  sibline.&lt;self&gt;.outbox  —  audit feed (observable, not load-bearing)</a:t>
            </a:r>
          </a:p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•  sibline.presence.&lt;agent&gt;  —  ephemeral, latest-only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BUS · SIBLINE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The v1 subject contract (stable)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8686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3500" cy="86868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114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onsolas"/>
              </a:rPr>
              <a:t>sibline-ollie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956816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2E9EC9"/>
                </a:solidFill>
                <a:latin typeface="Consolas"/>
              </a:rPr>
              <a:t>sibline.ollie.&gt;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72800" cy="8686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63500" cy="868680"/>
          </a:xfrm>
          <a:prstGeom prst="rect">
            <a:avLst/>
          </a:prstGeom>
          <a:solidFill>
            <a:srgbClr val="9B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114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onsolas"/>
              </a:rPr>
              <a:t>sibline-kukla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62656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9B8CE0"/>
                </a:solidFill>
                <a:latin typeface="Consolas"/>
              </a:rPr>
              <a:t>sibline.kukla.&gt;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10972800" cy="8686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114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onsolas"/>
              </a:rPr>
              <a:t>sibline-broadcast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68496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C88A"/>
                </a:solidFill>
                <a:latin typeface="Consolas"/>
              </a:rPr>
              <a:t>sibline.broadcast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File storage, 7-day retention, 10k msgs. </a:t>
            </a:r>
            <a:r>
              <a:rPr sz="1600" b="1" i="0">
                <a:solidFill>
                  <a:srgbClr val="E08A3C"/>
                </a:solidFill>
                <a:latin typeface="Consolas"/>
              </a:rPr>
              <a:t>Per-user grant must include publish: $JS.&gt;</a:t>
            </a:r>
            <a:r>
              <a:rPr sz="1600" b="0" i="0">
                <a:solidFill>
                  <a:srgbClr val="D7E1EE"/>
                </a:solidFill>
                <a:latin typeface="Calibri"/>
              </a:rPr>
              <a:t> — the load-bearing JetStream gotcha (without it, consumer/ack ops fail).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Six channels, ranked by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3500" cy="118872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Sibline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realtime broker — PRIMARY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916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63500" cy="118872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562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kukla-mail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file mailbox — durable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63500" cy="118872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278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Telegram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3-way, Rick-visible ops chatter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632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063240"/>
            <a:ext cx="63500" cy="1188720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278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Slack mpim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3-way shared room (no bot↔bot DM)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63500" cy="1188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994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Webhooks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HMAC-signed, ~50s (LLM in path)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434840"/>
            <a:ext cx="5532120" cy="11887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434840"/>
            <a:ext cx="63500" cy="1188720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9943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Transcript mirror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749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read-only shared situational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E9EC9"/>
                </a:solidFill>
                <a:latin typeface="Consolas"/>
              </a:rPr>
              <a:t>BUS · INVARIANT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The symmetry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219456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49469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BEFORE — asymmetric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946904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Ollie→Kukla: broker (realtime)
Kukla→Ollie: file only (lagged)
= looks like a bug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285232" cy="219456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285232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47088"/>
            <a:ext cx="48828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AFTER — symmetric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514600"/>
            <a:ext cx="4882896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D7E1EE"/>
                </a:solidFill>
                <a:latin typeface="Calibri"/>
              </a:rPr>
              <a:t>Every send does BOTH legs:
durable file + broker publish
= same latency both ways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10908792" cy="13716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10908792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5BC88A"/>
                </a:solidFill>
                <a:latin typeface="Calibri"/>
              </a:rPr>
              <a:t>VALIDATED:  </a:t>
            </a:r>
            <a:r>
              <a:rPr sz="1700" b="0" i="0">
                <a:solidFill>
                  <a:srgbClr val="D7E1EE"/>
                </a:solidFill>
                <a:latin typeface="Calibri"/>
              </a:rPr>
              <a:t>live ping→pong round-trip closed both directions · dual-witness (CherryRd + m1) · 3 streams with correct durable-consumer filters.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E08A3C"/>
                </a:solidFill>
                <a:latin typeface="Consolas"/>
              </a:rPr>
              <a:t>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Plugging a harness into Falda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514600" cy="15544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51460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148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onsolas"/>
              </a:rPr>
              <a:t>Hermes /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233172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783080"/>
            <a:ext cx="2514600" cy="15544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783080"/>
            <a:ext cx="251460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2148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onsolas"/>
              </a:rPr>
              <a:t>T0 → /stream/add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33172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783080"/>
            <a:ext cx="2514600" cy="15544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783080"/>
            <a:ext cx="2514600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2148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onsolas"/>
              </a:rPr>
              <a:t>Falda :8077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331720"/>
            <a:ext cx="411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8A97A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783080"/>
            <a:ext cx="2514600" cy="155448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783080"/>
            <a:ext cx="2514600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560320"/>
            <a:ext cx="2148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onsolas"/>
              </a:rPr>
              <a:t>SQLite + vec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5349240" cy="18288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5349240" cy="635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58768"/>
            <a:ext cx="49469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Two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26280"/>
            <a:ext cx="4946904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DUAL-RUN — tap captures + validates alongside TDAI during cutover
PRIMARY — Falda is the memory provider (one config flip away)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657600"/>
            <a:ext cx="5285232" cy="182880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657600"/>
            <a:ext cx="5285232" cy="635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858768"/>
            <a:ext cx="48828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Replication-grade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526280"/>
            <a:ext cx="488289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deploy/launchd/*.template (REPLACE_ME tokens) + deploy/nats/
Numbered INSTALL order ends in a ping→pong verify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E08A3C"/>
                </a:solidFill>
                <a:latin typeface="Consolas"/>
              </a:rPr>
              <a:t>INTEGRATION ·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The deploy kit — stand it up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6766560" cy="39319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3500" cy="393192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40080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falda/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C88A"/>
                </a:solidFill>
                <a:latin typeface="Consolas"/>
              </a:rPr>
              <a:t>  docs/HARNESS_INTEGRATION.md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7E1EE"/>
                </a:solidFill>
                <a:latin typeface="Consolas"/>
              </a:rPr>
              <a:t>  KUKLA_DELTA.md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  deploy/nats/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7E1EE"/>
                </a:solidFill>
                <a:latin typeface="Consolas"/>
              </a:rPr>
              <a:t>    nats-server.conf.template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7E1EE"/>
                </a:solidFill>
                <a:latin typeface="Consolas"/>
              </a:rPr>
              <a:t>    create-streams.sh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  deploy/launchd/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7E1EE"/>
                </a:solidFill>
                <a:latin typeface="Consolas"/>
              </a:rPr>
              <a:t>    com.example.falda-gateway.template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7E1EE"/>
                </a:solidFill>
                <a:latin typeface="Consolas"/>
              </a:rPr>
              <a:t>    com.example.falda-tap-openclaw.template</a:t>
            </a:r>
          </a:p>
          <a:p>
            <a:pPr algn="l"/>
            <a:r>
              <a:rPr sz="1600" b="0" i="0">
                <a:solidFill>
                  <a:srgbClr val="D7E1EE"/>
                </a:solidFill>
                <a:latin typeface="Consolas"/>
              </a:rPr>
              <a:t>    com.example.nats-subscriber.template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91640"/>
            <a:ext cx="3913632" cy="39319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691640"/>
            <a:ext cx="3913632" cy="635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892808"/>
            <a:ext cx="3511296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All tokenized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560320"/>
            <a:ext cx="3511296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Every secret / path is a REPLACE_ME_* token.
No operator-specific values.
A stranger replaces the tokens, runs the INSTALL order, and verifies with ping→pong.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5BC88A"/>
                </a:solidFill>
                <a:latin typeface="Consolas"/>
              </a:rP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2011680" cy="381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What's green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Falda gateway /healthz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0136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ok — tiers: stream / atoms / scenes / core / pools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32888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Origin-clean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551176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0 breaches repo-wide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45536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45536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82696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Sibline ping→pong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300984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PASS both directions, dual-witness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95344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95344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14216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32504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Broker streams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050792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3 present, correct durable-consumer filters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45152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645152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64024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82312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Deploy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80060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tokenized, no secret leaks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94960"/>
            <a:ext cx="10972800" cy="65836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94960"/>
            <a:ext cx="63500" cy="658368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1383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BC88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53212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Harness doc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55040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D7E1EE"/>
                </a:solidFill>
                <a:latin typeface="Calibri"/>
              </a:rPr>
              <a:t>replication-grade, on origin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C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2E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5BC88A"/>
                </a:solidFill>
                <a:latin typeface="Consola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D7E1EE"/>
                </a:solidFill>
                <a:latin typeface="Calibri"/>
              </a:rPr>
              <a:t>•  Falda — born-clean US-origin four-tier (T0→T3) engine becoming the primary memory provider.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D7E1EE"/>
                </a:solidFill>
                <a:latin typeface="Calibri"/>
              </a:rPr>
              <a:t>•  TDAI — the legacy four-layer (L0→L3) runtime being migrated from; same tier semantics, clean handoff.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D7E1EE"/>
                </a:solidFill>
                <a:latin typeface="Calibri"/>
              </a:rPr>
              <a:t>•  Two agents (Kukla/Hermes + Ollie/OpenClaw), one human, separate identities.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D7E1EE"/>
                </a:solidFill>
                <a:latin typeface="Calibri"/>
              </a:rPr>
              <a:t>•  Sibline — NATS/JetStream realtime bus; symmetric, dual-witness validated.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D7E1EE"/>
                </a:solidFill>
                <a:latin typeface="Calibri"/>
              </a:rPr>
              <a:t>•  UMP + vault — shared structured / cold memory, read on demand.</a:t>
            </a:r>
          </a:p>
          <a:p>
            <a:pPr algn="l"/>
            <a:r>
              <a:rPr sz="2000" b="0" i="0">
                <a:solidFill>
                  <a:srgbClr val="D7E1EE"/>
                </a:solidFill>
                <a:latin typeface="Calibri"/>
              </a:rPr>
              <a:t>•  Harness integration is replication-grade — stand up + verify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8A97A8"/>
                </a:solidFill>
                <a:latin typeface="Consolas"/>
              </a:rPr>
              <a:t>Agent memory + cross-agent stack · TDAI / Falda · Sibline · 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Consolas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